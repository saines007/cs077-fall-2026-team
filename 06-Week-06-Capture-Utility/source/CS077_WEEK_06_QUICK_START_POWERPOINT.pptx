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d4a461cebf4824" /><Relationship Type="http://schemas.openxmlformats.org/officeDocument/2006/relationships/extended-properties" Target="/docProps/app.xml" Id="Rd8f2020ebee34638" /><Relationship Type="http://schemas.openxmlformats.org/officeDocument/2006/relationships/officeDocument" Target="/ppt/presentation.xml" Id="R584cd21483c248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537b8ce8874f0d"/>
  </p:sldMasterIdLst>
  <p:notesMasterIdLst>
    <p:notesMasterId xmlns:r="http://schemas.openxmlformats.org/officeDocument/2006/relationships" r:id="R0ad39bb6a45d40fe"/>
  </p:notesMasterIdLst>
  <p:sldIdLst>
    <p:sldId xmlns:r="http://schemas.openxmlformats.org/officeDocument/2006/relationships" id="256" r:id="R51090403b57547ce"/>
    <p:sldId xmlns:r="http://schemas.openxmlformats.org/officeDocument/2006/relationships" id="257" r:id="R216d88b6365e4cad"/>
    <p:sldId xmlns:r="http://schemas.openxmlformats.org/officeDocument/2006/relationships" id="258" r:id="Rcf3527d4fcb3443e"/>
    <p:sldId xmlns:r="http://schemas.openxmlformats.org/officeDocument/2006/relationships" id="259" r:id="R0d22d67d579a4ce5"/>
    <p:sldId xmlns:r="http://schemas.openxmlformats.org/officeDocument/2006/relationships" id="260" r:id="R54209cd009704a57"/>
    <p:sldId xmlns:r="http://schemas.openxmlformats.org/officeDocument/2006/relationships" id="261" r:id="Re9f511f57eaf4cdb"/>
    <p:sldId xmlns:r="http://schemas.openxmlformats.org/officeDocument/2006/relationships" id="262" r:id="Rd82fadb585654fde"/>
    <p:sldId xmlns:r="http://schemas.openxmlformats.org/officeDocument/2006/relationships" id="263" r:id="R9164d0addb204fda"/>
    <p:sldId xmlns:r="http://schemas.openxmlformats.org/officeDocument/2006/relationships" id="264" r:id="R23d1d09363c441a8"/>
    <p:sldId xmlns:r="http://schemas.openxmlformats.org/officeDocument/2006/relationships" id="265" r:id="Reb6ddb9c3c7c42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93298587e04835" /><Relationship Type="http://schemas.openxmlformats.org/officeDocument/2006/relationships/slideMaster" Target="/ppt/slideMasters/slideMaster1.xml" Id="R95537b8ce8874f0d" /><Relationship Type="http://schemas.openxmlformats.org/officeDocument/2006/relationships/notesMaster" Target="/ppt/notesMasters/notesMaster1.xml" Id="R0ad39bb6a45d40fe" /><Relationship Type="http://schemas.openxmlformats.org/officeDocument/2006/relationships/presProps" Target="/ppt/presProps.xml" Id="R9acc148f496049b2" /><Relationship Type="http://schemas.openxmlformats.org/officeDocument/2006/relationships/tableStyles" Target="/ppt/tableStyles.xml" Id="Rb84b637659df4e65" /><Relationship Type="http://schemas.openxmlformats.org/officeDocument/2006/relationships/slide" Target="/ppt/slides/slide1.xml" Id="R51090403b57547ce" /><Relationship Type="http://schemas.openxmlformats.org/officeDocument/2006/relationships/slide" Target="/ppt/slides/slide2.xml" Id="R216d88b6365e4cad" /><Relationship Type="http://schemas.openxmlformats.org/officeDocument/2006/relationships/slide" Target="/ppt/slides/slide3.xml" Id="Rcf3527d4fcb3443e" /><Relationship Type="http://schemas.openxmlformats.org/officeDocument/2006/relationships/slide" Target="/ppt/slides/slide4.xml" Id="R0d22d67d579a4ce5" /><Relationship Type="http://schemas.openxmlformats.org/officeDocument/2006/relationships/slide" Target="/ppt/slides/slide5.xml" Id="R54209cd009704a57" /><Relationship Type="http://schemas.openxmlformats.org/officeDocument/2006/relationships/slide" Target="/ppt/slides/slide6.xml" Id="Re9f511f57eaf4cdb" /><Relationship Type="http://schemas.openxmlformats.org/officeDocument/2006/relationships/slide" Target="/ppt/slides/slide7.xml" Id="Rd82fadb585654fde" /><Relationship Type="http://schemas.openxmlformats.org/officeDocument/2006/relationships/slide" Target="/ppt/slides/slide8.xml" Id="R9164d0addb204fda" /><Relationship Type="http://schemas.openxmlformats.org/officeDocument/2006/relationships/slide" Target="/ppt/slides/slide9.xml" Id="R23d1d09363c441a8" /><Relationship Type="http://schemas.openxmlformats.org/officeDocument/2006/relationships/slide" Target="/ppt/slides/slide10.xml" Id="Reb6ddb9c3c7c42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29734563de4d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a7f7c7b62747d6" /><Relationship Type="http://schemas.openxmlformats.org/officeDocument/2006/relationships/notesMaster" Target="/ppt/notesMasters/notesMaster1.xml" Id="Re2f01ee4d69e46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eb6d01459244a8" /><Relationship Type="http://schemas.openxmlformats.org/officeDocument/2006/relationships/notesMaster" Target="/ppt/notesMasters/notesMaster1.xml" Id="R3ee0f9d2cadf41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baccd64bb34d9f" /><Relationship Type="http://schemas.openxmlformats.org/officeDocument/2006/relationships/notesMaster" Target="/ppt/notesMasters/notesMaster1.xml" Id="R1c30ab744fbe4a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97d3aec61c444d" /><Relationship Type="http://schemas.openxmlformats.org/officeDocument/2006/relationships/notesMaster" Target="/ppt/notesMasters/notesMaster1.xml" Id="Rfdf3a924fc5340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21cf3c12bf4ade" /><Relationship Type="http://schemas.openxmlformats.org/officeDocument/2006/relationships/notesMaster" Target="/ppt/notesMasters/notesMaster1.xml" Id="Re2c2d31c2a1a4e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d360426e144226" /><Relationship Type="http://schemas.openxmlformats.org/officeDocument/2006/relationships/notesMaster" Target="/ppt/notesMasters/notesMaster1.xml" Id="R36b69d41e3c140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772f28038b4a4d" /><Relationship Type="http://schemas.openxmlformats.org/officeDocument/2006/relationships/notesMaster" Target="/ppt/notesMasters/notesMaster1.xml" Id="Reb79c23a65d449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bc0c4089144299" /><Relationship Type="http://schemas.openxmlformats.org/officeDocument/2006/relationships/notesMaster" Target="/ppt/notesMasters/notesMaster1.xml" Id="R4cb36a99a69245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bef1671c094269" /><Relationship Type="http://schemas.openxmlformats.org/officeDocument/2006/relationships/notesMaster" Target="/ppt/notesMasters/notesMaster1.xml" Id="R88acb50e47484f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33f67e736047fc" /><Relationship Type="http://schemas.openxmlformats.org/officeDocument/2006/relationships/notesMaster" Target="/ppt/notesMasters/notesMaster1.xml" Id="R14c744ed2c9341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6 Quick Start cover. Visual source: course-owned CS077 Week 5 workshop 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Course-created pipeline illustration. Action 6A establishes need, UI, logic, and first interaction. Action 6B completes capture, save, testing, and refactoring.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Course-owned CS077 character and workshop art. Selection receipt records the pathway and requirements, not completion or a grade.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tutorial: https://learn.microsoft.com/en-us/dotnet/desktop/winforms/get-started/create-app-visual-studio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 prefixes are a course/team naming convention, not a C# language rule. Use labels beside imagery and preserve a keyboard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event handlers small. The instructor-only working-core verification project demonstrates this separation; the learner starter remains raw.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API: https://learn.microsoft.com/en-us/dotnet/api/system.drawing.graphics.copyfromscreen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docs: https://learn.microsoft.com/en-us/dotnet/desktop/winforms/controls/how-to-save-files-using-the-savefiledialog-component and https://learn.microsoft.com/en-us/dotnet/api/system.drawing.image.save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No-paid fallback: test the supplied cancellation-message change, record the observed result, and label it supplied-response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Git guide: https://learn.microsoft.com/en-us/visualstudio/version-control/git-create-repository?view=visualstudio. Canvas is the official submission and grading location.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657a0464448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94a60da1f43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7bd4dbdf046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82124faf141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1eb39f5ad4c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347cb67584d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561712F-BE23-4837-8313-3AF11BC8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08F679-F878-4F92-901C-2546A3608F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75BFC9E-3F05-4F1E-88B2-C9F4B74055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B5919E4-5B12-4B59-B836-AE36B98F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00566A-C950-403D-AA8F-A1BF7DF691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1C5373A-DD97-457C-A4D1-AD8E1F77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BAE603-789C-4789-B7A3-3698A7A6BF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1AA1DD8-D6B1-447F-9F2F-9921ABCF95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DC22EB7-3B52-40A4-92D8-4CB83A4C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13EADA4-FCEE-438A-8435-0C2520C998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D7C50B-21CE-4B46-AF78-3A67B51B87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3F4F26-7F32-4A5D-847D-753FC7B29B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F0F8374-C7E5-4BF9-A3C3-57879D66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0893272-100E-41A4-A953-6186FDF0F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7CC646-7BAA-4263-AA38-7A4D9424FF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b76299b3f848f1" /><Relationship Type="http://schemas.openxmlformats.org/officeDocument/2006/relationships/slideLayout" Target="/ppt/slideLayouts/slideLayout1.xml" Id="Rfcd41c20bc3f472d" /><Relationship Type="http://schemas.openxmlformats.org/officeDocument/2006/relationships/slideLayout" Target="/ppt/slideLayouts/slideLayout2.xml" Id="R30d5ddfe170a46ff" /><Relationship Type="http://schemas.openxmlformats.org/officeDocument/2006/relationships/slideLayout" Target="/ppt/slideLayouts/slideLayout3.xml" Id="R9490f20b9662492c" /><Relationship Type="http://schemas.openxmlformats.org/officeDocument/2006/relationships/slideLayout" Target="/ppt/slideLayouts/slideLayout4.xml" Id="Radfb400e26124e37" /><Relationship Type="http://schemas.openxmlformats.org/officeDocument/2006/relationships/slideLayout" Target="/ppt/slideLayouts/slideLayout5.xml" Id="Rdadc297bb9344610" /><Relationship Type="http://schemas.openxmlformats.org/officeDocument/2006/relationships/slideLayout" Target="/ppt/slideLayouts/slideLayout6.xml" Id="R05c2e7c23ab44c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d41c20bc3f472d"/>
    <p:sldLayoutId xmlns:r="http://schemas.openxmlformats.org/officeDocument/2006/relationships" id="2147483650" r:id="R30d5ddfe170a46ff"/>
    <p:sldLayoutId xmlns:r="http://schemas.openxmlformats.org/officeDocument/2006/relationships" id="2147483651" r:id="R9490f20b9662492c"/>
    <p:sldLayoutId xmlns:r="http://schemas.openxmlformats.org/officeDocument/2006/relationships" id="2147483652" r:id="Radfb400e26124e37"/>
    <p:sldLayoutId xmlns:r="http://schemas.openxmlformats.org/officeDocument/2006/relationships" id="2147483653" r:id="Rdadc297bb9344610"/>
    <p:sldLayoutId xmlns:r="http://schemas.openxmlformats.org/officeDocument/2006/relationships" id="2147483654" r:id="R05c2e7c23ab44c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ae187fed742fc" /><Relationship Type="http://schemas.openxmlformats.org/officeDocument/2006/relationships/image" Target="/ppt/media/image.jpeg" Id="R885655f4855540e8" /><Relationship Type="http://schemas.openxmlformats.org/officeDocument/2006/relationships/notesSlide" Target="/ppt/notesSlides/notesSlide1.xml" Id="R5a813b65743b4f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a62cfd37a24b77" /><Relationship Type="http://schemas.openxmlformats.org/officeDocument/2006/relationships/image" Target="/ppt/media/image.png" Id="R5cd9fc7a170a4887" /><Relationship Type="http://schemas.openxmlformats.org/officeDocument/2006/relationships/notesSlide" Target="/ppt/notesSlides/notesSlide2.xml" Id="R901c0ba169f04e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897a3f082340d3" /><Relationship Type="http://schemas.openxmlformats.org/officeDocument/2006/relationships/image" Target="/ppt/media/image2.jpeg" Id="R0497dbce5a434790" /><Relationship Type="http://schemas.openxmlformats.org/officeDocument/2006/relationships/image" Target="/ppt/media/image3.jpeg" Id="Rbdc003ce184245fd" /><Relationship Type="http://schemas.openxmlformats.org/officeDocument/2006/relationships/image" Target="/ppt/media/image4.jpeg" Id="R47a4c11cf58149c3" /><Relationship Type="http://schemas.openxmlformats.org/officeDocument/2006/relationships/notesSlide" Target="/ppt/notesSlides/notesSlide3.xml" Id="Ra4aefd982be548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25ef388d494c16" /><Relationship Type="http://schemas.openxmlformats.org/officeDocument/2006/relationships/notesSlide" Target="/ppt/notesSlides/notesSlide4.xml" Id="Rfbd9a485ab6f44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01a33b16a44597" /><Relationship Type="http://schemas.openxmlformats.org/officeDocument/2006/relationships/notesSlide" Target="/ppt/notesSlides/notesSlide5.xml" Id="R69bc9da6b6d849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9654221ef4015" /><Relationship Type="http://schemas.openxmlformats.org/officeDocument/2006/relationships/notesSlide" Target="/ppt/notesSlides/notesSlide6.xml" Id="R30163049094a40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d057573a24da6" /><Relationship Type="http://schemas.openxmlformats.org/officeDocument/2006/relationships/notesSlide" Target="/ppt/notesSlides/notesSlide7.xml" Id="Rdc89971a25dc4a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5b154ea8c640d1" /><Relationship Type="http://schemas.openxmlformats.org/officeDocument/2006/relationships/notesSlide" Target="/ppt/notesSlides/notesSlide8.xml" Id="R6031e331ea1c47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abf3bb9f64805" /><Relationship Type="http://schemas.openxmlformats.org/officeDocument/2006/relationships/notesSlide" Target="/ppt/notesSlides/notesSlide9.xml" Id="Ree1deac65add43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d88868acd44b64" /><Relationship Type="http://schemas.openxmlformats.org/officeDocument/2006/relationships/notesSlide" Target="/ppt/notesSlides/notesSlide10.xml" Id="R7d1382b8b71c46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655f4855540e8"/>
          <a:srcRect xmlns:a="http://schemas.openxmlformats.org/drawingml/2006/main" l="0" t="15" r="0" b="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1EAB5-E908-4784-9747-5B854593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118">
              <a:alpha val="80000"/>
            </a:srgbClr>
          </a:solidFill>
          <a:ln xmlns:a="http://schemas.openxmlformats.org/drawingml/2006/main" w="9525">
            <a:solidFill>
              <a:srgbClr val="031118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5DCEC-125A-4A55-ADBB-C85AFB4C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CS077 / WEEK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BF9E3-590B-4BBF-A52A-00E1041F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CAPTURE</a:t>
            </a:r>
          </a:p>
          <a:p xmlns:a="http://schemas.openxmlformats.org/drawingml/2006/main">
            <a:pPr>
              <a:defRPr sz="495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WHAT MATTERS.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C6428-FECD-45EF-B25D-204AA82E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One need. One Windows Forms utility. One tested GitHub handoff.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C1E9C-F17B-4584-8DFC-4A92213D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5715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8212C">
              <a:alpha val="80000"/>
            </a:srgbClr>
          </a:solidFill>
          <a:ln xmlns:a="http://schemas.openxmlformats.org/drawingml/2006/main" w="9525">
            <a:solidFill>
              <a:srgbClr val="72E5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A72E8-420B-400E-A846-E9737922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6A  Need +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53EB1-E197-4C8C-BC97-4915BC2A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6B  Capture +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983C0-61FF-42E3-9FBF-996848EE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The story explains why. The engineering proves how.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474AD-C60B-4B31-8E37-90836781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CS077 / WEEK 6 / APP DEVELOPMENT 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3E561-5371-4B89-9DFF-0997AADF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93207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3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FF24E-44D2-4504-93DC-EBB78D51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THE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923FD-9BB5-499B-BF8E-9213DBCF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A need becomes a tested utility.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455E5-650C-43C2-9211-ABB430E1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Build, Test, and Refactor form an iteration loop—not a one-way finish line.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9fc7a170a4887"/>
          <a:stretch xmlns:a="http://schemas.openxmlformats.org/drawingml/2006/main"/>
        </p:blipFill>
        <p:spPr>
          <a:xfrm xmlns:a="http://schemas.openxmlformats.org/drawingml/2006/main">
            <a:off x="2668822" y="1981200"/>
            <a:ext cx="6854356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3C053-7F34-43FF-966D-9C4F758D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ACTION 6A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DB8E3-EBC0-4E42-ABEA-0103950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43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ACTION 6B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F4CFC-FAAF-4ED6-8F69-DDF13038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43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3D99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3D99D"/>
                </a:solidFill>
                <a:latin typeface="Arial"/>
                <a:ea typeface="Arial"/>
                <a:cs typeface="Arial"/>
              </a:rPr>
              <a:t>WEEK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2BDD1-C7D1-4788-BFFF-6FDA6C62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CS077 / WEEK 6 / APP DEVELOPMENT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4CACA-66B3-4BCC-8C2A-6E677A5C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84356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3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1B6A0F-48B5-44C5-A1A2-1B3330A9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CHOOSE ONE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67FA7-8A45-4108-8562-73CFD17D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Three reasons. One technical target.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4C9CB-6AD3-4418-94E1-0B690EC5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Your choice changes the purpose, labels, documentation, and ethical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B74DA-D053-4548-97E3-4456A897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35623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7dbce5a434790"/>
          <a:srcRect xmlns:a="http://schemas.openxmlformats.org/drawingml/2006/main" l="0" t="15561" r="0" b="155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209800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6970B-A170-4A04-9DB4-36E1ACE3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VOID RUNNERS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679D0-CBCD-49C7-BE27-F7448775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3105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Preserve an unstable Ashwake terminal record before it resets or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3FCA8-F0D6-4B0B-A27C-1CA905C9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5623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003ce184245fd"/>
          <a:srcRect xmlns:a="http://schemas.openxmlformats.org/drawingml/2006/main" l="13542" t="0" r="135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2209800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0B624-78BE-4B12-A30C-E03233AD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052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ORIGINAL 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D2BD4-83BF-40CF-85BF-C60723B8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00550"/>
            <a:ext cx="3105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Protect visual information that matters to someone in your own world.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6CA98-35DC-4B68-88BB-D1309678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5623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4c11cf58149c3"/>
          <a:srcRect xmlns:a="http://schemas.openxmlformats.org/drawingml/2006/main" l="0" t="9377" r="0" b="93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2209800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E6F1E-5A2C-47CC-9CF3-4684D127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TECHNICAL 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FC31D-B370-4F98-9ED6-95204C78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00550"/>
            <a:ext cx="3105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Document software behavior, a test result, or a support problem.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552AD-035B-4137-832C-71C9E763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1296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2B24"/>
          </a:solidFill>
          <a:ln xmlns:a="http://schemas.openxmlformats.org/drawingml/2006/main" w="9525">
            <a:solidFill>
              <a:srgbClr val="83D99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BB2DF-689E-46A4-9948-D4A825ED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Shared target: C# Windows Forms + primary-screen capture + PNG save + visible status + tested GitHub repository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C720B-6A8D-4616-9962-0D8A8C5B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CS077 / WEEK 6 / APP DEVELOPMENT 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164D04-1BF8-4DEC-B53A-2406BF92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2691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3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75ECEE-AA96-4A23-A896-7B0BE331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START CLEAN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097E1-540F-4C9C-BBBC-8EB29912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Run the empty form before adding capture code.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3F696-4988-42BB-A9A2-19D4B96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This separates environment trouble from code trouble.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4C90D-7C14-444A-8B5A-6E514AC4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3524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C7C9A-07A2-4AA3-BE4A-EF31C4E3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4ACA4-0AD2-4E01-8057-102F38C6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02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132F3-6009-4BBA-8DC4-92ED7D98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Choose C# Windows Forms App—not WPF—and use the framework approved in class.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82627-8212-4773-8A17-381E26E5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76450"/>
            <a:ext cx="3524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91DF5-1F95-45D9-96BA-87552CF6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28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487A6-C68A-4683-8475-4A337EB9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2002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318AF-A03F-4927-AE8C-3BCA2FA1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28900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Launch the untouched form. The blank window proves the template and workload work.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CF708-AD88-4234-AE46-D0B8C944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524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A426C-314F-4087-AB43-0207F507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28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3D9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D9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03DC8-F327-45E8-B193-261E99C3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02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A12FB-9BF3-44FC-9044-5CAFB595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28900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Create or connect Git. Commit and push the empty working form before editing.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42FBD-2558-4F71-807D-8C6FD04D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111633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071A22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E385B-E107-4F07-A191-E9CF7F4F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EF031-E0B8-4EB2-BB1B-D8C9E6A9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ScreenCaptureUtility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72AFB-7293-41C5-8A5D-0AED1F50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33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37445-9DA9-4F79-851E-91044FAE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38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MainForm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75346A-4BC4-4569-8493-B7534D19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33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41A74-03AE-468D-BD08-510B922D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3865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btnCapture</a:t>
            </a:r>
          </a:p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btnSave</a:t>
            </a:r>
          </a:p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picPreview</a:t>
            </a:r>
          </a:p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lblStatus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40BBC-868C-45CD-A6EC-DADD28E7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7F7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7F72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3E48DA-9A74-44AA-8B19-B373ECED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3865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Missing template?</a:t>
            </a:r>
          </a:p>
          <a:p xmlns:a="http://schemas.openxmlformats.org/drawingml/2006/main">
            <a:pPr>
              <a:defRPr sz="127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Check .NET desktop</a:t>
            </a:r>
          </a:p>
          <a:p xmlns:a="http://schemas.openxmlformats.org/drawingml/2006/main">
            <a:pPr>
              <a:defRPr sz="127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development workload.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5C7C73-F712-44BA-B2DA-8DEE0B21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CS077 / WEEK 6 / APP DEVELOPMENT 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7091F8-C195-4860-B8ED-C34D93A3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9182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3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A4623-8193-4785-BFA0-A25733CA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DESIGN THE FIRST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0CD09-B7F2-492F-BECD-8E2269A7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The user should know what to do and what happened.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1661E-2640-4990-82AA-EFAB96AD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Use the Visual hat before the Logical hat.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460EC-1055-431F-B17C-2AB8F87D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2400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FFB3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5F71C-DA06-4834-8898-16E21080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C6263-F723-4A1D-8DC0-51D48D9F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9DFAD-93CD-4DA2-B89F-99E46504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05050"/>
            <a:ext cx="2400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72E5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4EE95-039E-4CBF-8218-257CE750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193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5455F-FF13-443E-BEF6-1B7BE84E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003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PREVIEW IMAGE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54134-82C7-4DCE-BE76-5786C514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400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83D9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E0362-7694-4411-ADF6-07D77543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3D9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D99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C46E4-2D12-47D7-BA0F-C959227A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SAVE PNG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F1D87-CA29-4BA7-BA79-69E9D715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05050"/>
            <a:ext cx="2400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72E5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80A58-E46F-4A64-9864-751A34D1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193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EEB66-2165-430C-90A8-35B0101D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READ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5C96D-679B-48B0-BD3E-8C36EEAC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9950"/>
            <a:ext cx="10858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71B23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BE9D9-E450-41AF-9E54-7768605C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[ Capture screen ]   [ Save PNG ]     Ready. Choose Capture screen.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BD40B-BF5E-4269-894C-344836B6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0287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A33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FA60C9-70D5-4645-993B-A511F80B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529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PICTURE 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F844F1-05EB-422B-B62F-D2B51C6A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Names explain roles: btnCapture · btnSave · picPreview · lblStatus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942863-C761-47FF-AA57-2D68A586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CS077 / WEEK 6 / APP DEVELOPMENT 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DA37C-3A77-4940-9779-319D1419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36202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3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7CB1F2-804B-49C3-979F-3C41C9F4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TRACE THE CLICK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B9F42-1C1B-4F6D-9347-2DCB6798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The button asks. A method does the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47901-F18A-4559-BA5D-081D7349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954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118"/>
          </a:solidFill>
          <a:ln xmlns:a="http://schemas.openxmlformats.org/drawingml/2006/main" w="9525">
            <a:solidFill>
              <a:srgbClr val="0311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38034-EF9B-400F-A2E3-D5596343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The form handles interaction; the service handles capture.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13969-CCFD-434C-9035-F012004B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1466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FFB3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67950-748F-475E-A911-370E38E5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F69A2-468C-4408-AEF7-520B6DED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Button click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0433C-063B-49C8-A56F-E404DB15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35267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14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023A2-2C8B-4020-8526-9AAD9351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09800"/>
            <a:ext cx="1466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FFB3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C13C8-D0D3-4326-8FCF-2D106EDF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32410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188D2-A237-46DA-A090-55CD14D8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05050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Click handler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AF994-5CEF-4FC4-9B25-00ADA6CA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5267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14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CC6B5-6306-4EA4-B506-5171B103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09800"/>
            <a:ext cx="1466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72E5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4D21E-A93E-4D88-8F45-EB6B4C11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2410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D8456-7E22-4D57-8BF4-EB91FD20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05050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Capture method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E1939-BAEB-42A2-A150-A730DD46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5267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14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91F88-3DCC-485F-81FA-633F9A96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09800"/>
            <a:ext cx="1466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72E5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9CD13-E0F8-4884-B566-8429BB5C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32410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8F2FF-BADF-4691-A91D-6F8C9963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305050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Bitmap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BE232-0E4A-43ED-9DA0-6E3324C9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35267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14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7B6A5D-0D07-4022-9F65-A93CF8BB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9800"/>
            <a:ext cx="1466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72E5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436404-B01B-4DD3-B01B-3E251CFC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2410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4D72BF-EC97-427B-A74D-888E2E91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05050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Preview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38F608-FFFE-464B-A5B5-2AE73697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5267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14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3D8919-EFE0-4767-9456-63ACFA0C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09800"/>
            <a:ext cx="1466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72E5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1B9FDA-5EA1-42EA-960F-D3F848CD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32410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0D69A3-7176-40A5-AC9F-8E4F6D10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05050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Save choice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58759D-5CBA-4488-960D-559B2212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35267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14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5747C4-3A9F-481A-AF21-A19EC7F6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09800"/>
            <a:ext cx="1466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72E5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01C61E-AA3D-4AEF-9C78-20C4D4E1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2410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FF13AB-9BEB-4216-9305-A0F1CF77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05050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324F54-02BA-4668-A475-2B8050D9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14700"/>
            <a:ext cx="52959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61820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2ED5C1-C05C-488F-BE9E-8B5E204F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MainForm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F5981D-18E7-4501-96BA-9F6D3B13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476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btnCapture_Click(...)</a:t>
            </a:r>
          </a:p>
          <a:p xmlns:a="http://schemas.openxmlformats.org/drawingml/2006/main">
            <a:pPr>
              <a:defRPr sz="13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3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  currentCapture = captureService</a:t>
            </a:r>
          </a:p>
          <a:p xmlns:a="http://schemas.openxmlformats.org/drawingml/2006/main">
            <a:pPr>
              <a:defRPr sz="13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    .CapturePrimaryScreen();</a:t>
            </a:r>
          </a:p>
          <a:p xmlns:a="http://schemas.openxmlformats.org/drawingml/2006/main">
            <a:pPr>
              <a:defRPr sz="13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  picPreview.Image = currentCapture;</a:t>
            </a:r>
          </a:p>
          <a:p xmlns:a="http://schemas.openxmlformats.org/drawingml/2006/main">
            <a:pPr>
              <a:defRPr sz="13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35315D-A5BD-4E1A-9107-10B3663D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14700"/>
            <a:ext cx="56578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61820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65B029-EC64-471B-896E-C102EA76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86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ScreenCaptureService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BEEF85-B3E5-4296-AAB8-98D13474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90950"/>
            <a:ext cx="5048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0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CapturePrimaryScreen()</a:t>
            </a:r>
          </a:p>
          <a:p xmlns:a="http://schemas.openxmlformats.org/drawingml/2006/main">
            <a:pPr>
              <a:defRPr sz="13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3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  read screen bounds</a:t>
            </a:r>
          </a:p>
          <a:p xmlns:a="http://schemas.openxmlformats.org/drawingml/2006/main">
            <a:pPr>
              <a:defRPr sz="13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  create Bitmap + Graphics</a:t>
            </a:r>
          </a:p>
          <a:p xmlns:a="http://schemas.openxmlformats.org/drawingml/2006/main">
            <a:pPr>
              <a:defRPr sz="13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  CopyFromScreen(...)</a:t>
            </a:r>
          </a:p>
          <a:p xmlns:a="http://schemas.openxmlformats.org/drawingml/2006/main">
            <a:pPr>
              <a:defRPr sz="13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  return image</a:t>
            </a:r>
          </a:p>
          <a:p xmlns:a="http://schemas.openxmlformats.org/drawingml/2006/main">
            <a:pPr>
              <a:defRPr sz="13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C030D1-B987-46C7-B0F3-D99C1F51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CS077 / WEEK 6 / APP DEVELOPMENT 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3AF18C-EB80-4018-9915-DD997B3C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52904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3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2E25A-714D-4898-A34F-F483BBEB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CAPTURE THE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E27A8-383F-4317-8E22-991B74F2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622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Move pixels into a bitmap—and release temporary resources.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0653E-20FC-4A24-9C34-4F60FF5F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Explain each object before copying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8B76C-46ED-434D-B40D-5F40C562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26098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4A5ED-BD73-474E-A2AA-A652F593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14491-B3E7-458B-9C37-05102706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4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Primary screen bounds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21D54-B7F1-4178-ABEF-229EBD8D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228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Provides the primary display location and size.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BE078-A8AC-4101-8E8D-A0B321E5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14550"/>
            <a:ext cx="26098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BDA27-1E21-44FC-9CF8-1A9B6FB8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A35AD-BDAC-485E-A631-6ECEFA3D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Bitmap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68B94-567E-4BA6-8B58-97132AE9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228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Stores the captured pixels in memory.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3F127-485E-49D3-86C6-207F2791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26098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B8914-F642-45EA-87EE-D6EF8698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C23E6-C5FD-416A-A6FE-1A95EE67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383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Graphics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4D803-88E7-43A6-BC96-336B6F49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2228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Creates a temporary drawing surface connected to the bitmap.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EFCEC-F1C6-4412-AA38-E885BC95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14550"/>
            <a:ext cx="26098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81BAF-31D8-4BC5-A6B1-5B5B5782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3D9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D99D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57917-0066-4B31-9D53-AD1EC98E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383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CopyFromScreen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0F8745-E97F-4C3E-9ACF-D5AB9FDB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2228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Copies visible pixels from the screen into the bitmap.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CD359-0F69-450E-AD95-744C8D4E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1163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61820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8A605-9103-44E5-9FB0-D2BBD5C0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10629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using Graphics graphics = Graphics.FromImage(image);</a:t>
            </a:r>
          </a:p>
          <a:p xmlns:a="http://schemas.openxmlformats.org/drawingml/2006/main">
            <a:pPr>
              <a:defRPr sz="16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graphics.CopyFromScreen(bounds.Left, bounds.Top, 0, 0, bounds.Size);</a:t>
            </a:r>
          </a:p>
          <a:p xmlns:a="http://schemas.openxmlformats.org/drawingml/2006/main">
            <a:pPr>
              <a:defRPr sz="16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return image;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DB804E-D90A-488C-8A33-CC01CDCB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6900"/>
            <a:ext cx="11163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B1C0D"/>
          </a:solidFill>
          <a:ln xmlns:a="http://schemas.openxmlformats.org/drawingml/2006/main" w="9525">
            <a:solidFill>
              <a:srgbClr val="FFB3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EC5D8-6C1A-483E-900E-39022CBB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78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WHY USING?  Graphics is temporary. Dispose it when the capture method ends.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08F516-8876-4B0C-A89D-3CEF9EFD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CS077 / WEEK 6 / APP DEVELOPMENT 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DB1519-570F-402C-8AE9-9F07D969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90777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3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E750C-C069-49F0-8BDF-A955CE66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SAVE WITH A VISIBLE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72A97-EEB8-4A5F-9EB0-3E6290E6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Success, cancellation, and failure are different routes.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3197E-8A41-42FA-9463-1C6745E3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SaveFileDialog gives the user control of location and file name.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AE05C-24BB-4490-8A28-B6A71592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4861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83D99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B9637-17F0-48D0-BFF3-D2567B0A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3D9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D99D"/>
                </a:solidFill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D9FF9-4280-404C-815E-72AD0C1A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Save PNG; show the file name.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95EEC-A8DC-40D3-B9AB-186D1822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71700"/>
            <a:ext cx="34861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FFB3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91890-1C72-4A8E-99F9-14F8ED9C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CANCEL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C3C55-CE42-4F57-B2C9-25C6A2F4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622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Keep the capture; say that save was cancelled.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B7BC1-9FDC-477A-B25C-057AAF4F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71700"/>
            <a:ext cx="34861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FF7F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6DC9E-6B39-4BC5-8D0B-78E9B2EA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7F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F72"/>
                </a:solidFill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88A70-99D8-4DF4-ACED-C027596A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Show the exact problem; keep the app usable.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2BCA8-D625-4B36-BDE7-A224639F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11633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61820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90BF1-8235-49F9-9CF4-82A54C9D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070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AF8FA"/>
                </a:solidFill>
                <a:latin typeface="Arial"/>
                <a:ea typeface="Arial"/>
                <a:cs typeface="Arial"/>
              </a:rPr>
              <a:t>Filter = "PNG image (*.png)|*.png"     DefaultExt = "png"     currentCapture.Save(dialog.FileName, ImageFormat.Png);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A1685-AF2C-40FB-9429-EC8C5F99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11163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A1416"/>
          </a:solidFill>
          <a:ln xmlns:a="http://schemas.openxmlformats.org/drawingml/2006/main" w="9525">
            <a:solidFill>
              <a:srgbClr val="FF7F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DAB2F-DBCE-439D-A83A-F8F0B4BD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PRIVACY GATE  Never submit passwords, tokens, private messages, grades, or unrelated personal information.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D3D30-0CDC-40A8-B8F4-4B0F8061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CS077 / WEEK 6 / APP DEVELOPMENT 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BF71B-1C6D-45EE-B550-3EB5DF6A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39688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3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535685-F70F-492C-A846-F8C82913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TEST. ASK. DECIDE.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C139F-A8E8-4905-AE9E-9CC0557E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AI advice becomes evidence only after you verify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6A182-1E7B-451C-8D42-8404B085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Keep the request narrow and preserve the working 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964FD-EB3E-46AE-A296-1C73A669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2076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72E5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648EA-4FC3-4C54-BA21-58344267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459BB-3AEC-40B2-BFF6-39A1DF6B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ASK ONE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0D0FC-2673-4234-965A-9E8A6D2C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38375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1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6D312-E046-4CA4-888A-BA152958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76450"/>
            <a:ext cx="2076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72E5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51AD2-9BC0-4DCE-BB72-396E2A4A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907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D4509-2278-4D84-BE48-59BF4821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717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DD018-7633-4955-80C6-8667EBBA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38375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1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5F68E-070B-4737-84E8-616E427B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76450"/>
            <a:ext cx="2076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72E5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569D2-22D1-49BD-A7EF-9044868B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C0913-9204-40D3-8FFF-B35C4C65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717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TEST ONE 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35609-A711-465F-91B8-8FB77CA2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38375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1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9C06E-BEE1-4D87-9B4E-7D38DB9B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76450"/>
            <a:ext cx="2076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72E5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B9B4A-6803-4461-8241-2F9F2113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907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AA54F-915B-499C-93AB-A3FC3F01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717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D08886-55B8-4AFC-8D45-BE7FFA80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38375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1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2CC23-61BC-4601-BFB7-1524CDD8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76450"/>
            <a:ext cx="2076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303A"/>
          </a:solidFill>
          <a:ln xmlns:a="http://schemas.openxmlformats.org/drawingml/2006/main" w="9525">
            <a:solidFill>
              <a:srgbClr val="83D99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20DEE-25D6-43A2-BBD8-B017D58B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3D9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D99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0201D-78E3-47B2-988A-1C754AEA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717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KEEP / CHANGE / REJECT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6721BB-BEBA-4014-B416-A53E091C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11163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61820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E375C-A5EB-46B8-9953-B6991C9E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BEGINNER AI PROMPT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3C62F0-0A4F-4A47-B43E-B781EC6A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1057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Explain ONE selected method line by line. Identify variables, objects, inputs, output, and disposable resources. Suggest ONE small error-feedback improvement and ONE test. Preserve my working core. Do not replace the project.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066943-221A-4A99-81B4-C51E3942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11163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281F"/>
          </a:solidFill>
          <a:ln xmlns:a="http://schemas.openxmlformats.org/drawingml/2006/main" w="9525">
            <a:solidFill>
              <a:srgbClr val="83D99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DC6718-DFF0-432E-A5DC-31F0E6BB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3D99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3D99D"/>
                </a:solidFill>
                <a:latin typeface="Arial"/>
                <a:ea typeface="Arial"/>
                <a:cs typeface="Arial"/>
              </a:rPr>
              <a:t>TEST ROUTES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5CCDF8-053A-41A3-8DE4-7DD6F022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successful save · cancelled save · blocked destination · second capture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34D26-63E5-415F-AF4A-09D8A2C2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CS077 / WEEK 6 / APP DEVELOPMENT 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7688B0-30DB-43BE-9AEA-A6788A41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70644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3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F55AD-FE65-45BA-8FE3-B527B7D8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BRING BACK ONE TESTED REPOSITORY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90D0B-F84C-44A7-B4C6-A83E6396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6A and 6B advance the same weekly build.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963DD-AC0E-4305-A664-04C50244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Reuse class evidence. Do not create duplicate reports.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B3D98-DF8C-41C4-820E-735C6F20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3429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6338E-2525-4B83-969F-ADDFC5C3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85B71-C4EA-43BC-83A7-82FA0879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02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Need +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566D5-FA9A-4717-91D0-CBA35AA3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304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Context map, reading start, ethics boundary, prototype, first event, peer check, commit and push.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53654-375A-42B1-8FD1-4219891B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76450"/>
            <a:ext cx="3429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D677E-DB87-4819-AFC4-BCAB9E1C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E5E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E5EC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6EBBD-9CB2-454A-8CC7-1647BA5B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002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Capture +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B66D5-072B-406E-AACB-30C13736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304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Capture and PNG save, AI record, test routes, refactor, README peer run, commit and push.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64D20-73B1-4238-BF28-612B98AF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3429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9232D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33187-3C51-445C-873F-0F770830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3D9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D99D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1EE85-6149-4470-971A-374C49BC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02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Final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87B04-BBEC-4413-89A5-1100C7B3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28900"/>
            <a:ext cx="304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C1C7"/>
                </a:solidFill>
                <a:latin typeface="Arial"/>
                <a:ea typeface="Arial"/>
                <a:cs typeface="Arial"/>
              </a:rPr>
              <a:t>Brief, workbook page 117, reused class evidence, README, screenshots, receipt, final push.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49D7C-6561-4674-BE4E-E67C027B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90950"/>
            <a:ext cx="111633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61820"/>
          </a:solidFill>
          <a:ln xmlns:a="http://schemas.openxmlformats.org/drawingml/2006/main" w="9525">
            <a:solidFill>
              <a:srgbClr val="2C64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935B0-5F0D-49EE-A5D9-A886E79D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70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1  COMMIT       2  PUSH       3  OPEN GITHUB       4  VERIFY FILES + ACCESS       5  SUBMIT URL IN CANVAS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3E7A6-C2B2-4C2A-8230-732F9A26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11163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B1C0D"/>
          </a:solidFill>
          <a:ln xmlns:a="http://schemas.openxmlformats.org/drawingml/2006/main" w="9525">
            <a:solidFill>
              <a:srgbClr val="FFB3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7AE01E-CA86-44B2-A340-E9138741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1070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AF8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F8FA"/>
                </a:solidFill>
                <a:latin typeface="Arial"/>
                <a:ea typeface="Arial"/>
                <a:cs typeface="Arial"/>
              </a:rPr>
              <a:t>Both Action 6A and Action 6B must be accepted before the weekly assignment is accepted for grading, subject to the syllabus and approved accommodations.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28F2ED-50CE-42FC-A056-7E6D2D01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C1C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6C1C7"/>
                </a:solidFill>
                <a:latin typeface="Arial"/>
                <a:ea typeface="Arial"/>
                <a:cs typeface="Arial"/>
              </a:rPr>
              <a:t>CS077 / WEEK 6 / APP DEVELOPMENT 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E34BA-78AB-4E05-918E-2721842D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B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B3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5205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2026-09-27T23:35:00.5520000Z</dcterms:created>
  <dcterms:modified xsi:type="dcterms:W3CDTF">2026-09-27T23:35:00.5520000Z</dcterms:modified>
</coreProperties>
</file>